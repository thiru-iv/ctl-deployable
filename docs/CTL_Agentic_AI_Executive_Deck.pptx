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E8CC"/>
                </a:solidFill>
                <a:latin typeface="Calibri"/>
              </a:rPr>
              <a:t>CASCADE  ·  CTL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Clear-To-List</a:t>
            </a:r>
          </a:p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34747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FE8CC"/>
                </a:solidFill>
                <a:latin typeface="Calibri"/>
              </a:rPr>
              <a:t>The judgment step between</a:t>
            </a:r>
          </a:p>
          <a:p>
            <a:pPr algn="l"/>
            <a:r>
              <a:rPr sz="1800" b="0">
                <a:solidFill>
                  <a:srgbClr val="FFE8CC"/>
                </a:solidFill>
                <a:latin typeface="Calibri"/>
              </a:rPr>
              <a:t>vendor data and the</a:t>
            </a:r>
          </a:p>
          <a:p>
            <a:pPr algn="l"/>
            <a:r>
              <a:rPr sz="1800" b="0">
                <a:solidFill>
                  <a:srgbClr val="FFE8CC"/>
                </a:solidFill>
                <a:latin typeface="Calibri"/>
              </a:rPr>
              <a:t>listing decision —</a:t>
            </a:r>
          </a:p>
          <a:p>
            <a:pPr algn="l"/>
            <a:r>
              <a:rPr sz="1800" b="0">
                <a:solidFill>
                  <a:srgbClr val="FFE8CC"/>
                </a:solidFill>
                <a:latin typeface="Calibri"/>
              </a:rPr>
              <a:t>automated, grounded,</a:t>
            </a:r>
          </a:p>
          <a:p>
            <a:pPr algn="l"/>
            <a:r>
              <a:rPr sz="1800" b="0">
                <a:solidFill>
                  <a:srgbClr val="FFE8CC"/>
                </a:solidFill>
                <a:latin typeface="Calibri"/>
              </a:rPr>
              <a:t>and audit-ready.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E8CC"/>
                </a:solidFill>
                <a:latin typeface="Calibri"/>
              </a:rPr>
              <a:t>Executive Briefing  ·  Business · Architecture ·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097280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26B0A"/>
                </a:solidFill>
                <a:latin typeface="Calibri"/>
              </a:rPr>
              <a:t>The CTL Bottleneck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64592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828800"/>
            <a:ext cx="71323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Calibri"/>
              </a:rPr>
              <a:t>Before any REO, foreclosure, or short-sale</a:t>
            </a:r>
          </a:p>
          <a:p>
            <a:pPr algn="l"/>
            <a:r>
              <a:rPr sz="2000" b="1">
                <a:solidFill>
                  <a:srgbClr val="1F2937"/>
                </a:solidFill>
                <a:latin typeface="Calibri"/>
              </a:rPr>
              <a:t>asset can be listed, somebody must declare it</a:t>
            </a:r>
          </a:p>
          <a:p>
            <a:pPr algn="l"/>
            <a:r>
              <a:rPr sz="2000" b="1">
                <a:solidFill>
                  <a:srgbClr val="1F2937"/>
                </a:solidFill>
                <a:latin typeface="Calibri"/>
              </a:rPr>
              <a:t>Clear-To-List — legally clean, properly valued,</a:t>
            </a:r>
          </a:p>
          <a:p>
            <a:pPr algn="l"/>
            <a:r>
              <a:rPr sz="2000" b="1">
                <a:solidFill>
                  <a:srgbClr val="1F2937"/>
                </a:solidFill>
                <a:latin typeface="Calibri"/>
              </a:rPr>
              <a:t>physically ready — with conditions and citations.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023360"/>
            <a:ext cx="71323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Calibri"/>
              </a:rPr>
              <a:t>Cascade 2.0 already runs the workflow and owns the data.</a:t>
            </a:r>
          </a:p>
          <a:p>
            <a:pPr algn="l"/>
            <a:r>
              <a:rPr sz="1500" b="0">
                <a:solidFill>
                  <a:srgbClr val="4B5563"/>
                </a:solidFill>
                <a:latin typeface="Calibri"/>
              </a:rPr>
              <a:t>Hardcoded rules can check whether a BPO field is populated</a:t>
            </a:r>
          </a:p>
          <a:p>
            <a:pPr algn="l"/>
            <a:r>
              <a:rPr sz="1500" b="0">
                <a:solidFill>
                  <a:srgbClr val="4B5563"/>
                </a:solidFill>
                <a:latin typeface="Calibri"/>
              </a:rPr>
              <a:t>and &lt; 90 days old — they can't read title-commitment prose,</a:t>
            </a:r>
          </a:p>
          <a:p>
            <a:pPr algn="l"/>
            <a:r>
              <a:rPr sz="1500" b="0">
                <a:solidFill>
                  <a:srgbClr val="4B5563"/>
                </a:solidFill>
                <a:latin typeface="Calibri"/>
              </a:rPr>
              <a:t>reconcile valuation disagreements, or apply quarterly</a:t>
            </a:r>
          </a:p>
          <a:p>
            <a:pPr algn="l"/>
            <a:r>
              <a:rPr sz="1500" b="0">
                <a:solidFill>
                  <a:srgbClr val="4B5563"/>
                </a:solidFill>
                <a:latin typeface="Calibri"/>
              </a:rPr>
              <a:t>investor / state policy. Those calls queue for an analyst,</a:t>
            </a:r>
          </a:p>
          <a:p>
            <a:pPr algn="l"/>
            <a:r>
              <a:rPr sz="1500" b="0">
                <a:solidFill>
                  <a:srgbClr val="4B5563"/>
                </a:solidFill>
                <a:latin typeface="Calibri"/>
              </a:rPr>
              <a:t>and that's where the days 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5943600"/>
            <a:ext cx="2194560" cy="457200"/>
          </a:xfrm>
          <a:prstGeom prst="roundRect">
            <a:avLst/>
          </a:prstGeom>
          <a:solidFill>
            <a:srgbClr val="FFE8CC"/>
          </a:solidFill>
          <a:ln w="9525">
            <a:solidFill>
              <a:srgbClr val="E26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E26B0A"/>
                </a:solidFill>
                <a:latin typeface="Calibri"/>
              </a:rPr>
              <a:t>Policy-cited verdicts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5943600"/>
            <a:ext cx="2194560" cy="457200"/>
          </a:xfrm>
          <a:prstGeom prst="roundRect">
            <a:avLst/>
          </a:prstGeom>
          <a:solidFill>
            <a:srgbClr val="FFE8CC"/>
          </a:solidFill>
          <a:ln w="9525">
            <a:solidFill>
              <a:srgbClr val="E26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E26B0A"/>
                </a:solidFill>
                <a:latin typeface="Calibri"/>
              </a:rPr>
              <a:t>Independent AI judge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5943600"/>
            <a:ext cx="2377440" cy="457200"/>
          </a:xfrm>
          <a:prstGeom prst="roundRect">
            <a:avLst/>
          </a:prstGeom>
          <a:solidFill>
            <a:srgbClr val="FFE8CC"/>
          </a:solidFill>
          <a:ln w="9525">
            <a:solidFill>
              <a:srgbClr val="E26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E26B0A"/>
                </a:solidFill>
                <a:latin typeface="Calibri"/>
              </a:rPr>
              <a:t>Human-in-the-loop by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CTL Agentic AI  ·  Executive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The Problem: a hand-typed verdict is the bottleneck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61288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43584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Cascade 2.0 already routes work and owns data — the decision itself is still manual.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50292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Slow time-to-market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3657600" cy="3611880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514600"/>
            <a:ext cx="3255264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E26B0A"/>
                </a:solidFill>
                <a:latin typeface="Calibri"/>
              </a:rPr>
              <a:t>■  </a:t>
            </a:r>
            <a:r>
              <a:rPr sz="1500">
                <a:solidFill>
                  <a:srgbClr val="1F2937"/>
                </a:solidFill>
                <a:latin typeface="Calibri"/>
              </a:rPr>
              <a:t>Every day waiting on CTL is a day of carrying cost — taxes, insurance, HOA, preservation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E26B0A"/>
                </a:solidFill>
                <a:latin typeface="Calibri"/>
              </a:rPr>
              <a:t>■  </a:t>
            </a:r>
            <a:r>
              <a:rPr sz="1500">
                <a:solidFill>
                  <a:srgbClr val="1F2937"/>
                </a:solidFill>
                <a:latin typeface="Calibri"/>
              </a:rPr>
              <a:t>Routine assets queue behind hard ones — same analyst, same FIFO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E26B0A"/>
                </a:solidFill>
                <a:latin typeface="Calibri"/>
              </a:rPr>
              <a:t>■  </a:t>
            </a:r>
            <a:r>
              <a:rPr sz="1500">
                <a:solidFill>
                  <a:srgbClr val="1F2937"/>
                </a:solidFill>
                <a:latin typeface="Calibri"/>
              </a:rPr>
              <a:t>Foreclosure-cycle volume spikes blow through capacity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828800"/>
            <a:ext cx="3657600" cy="50292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60" y="182880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Inconsistent verdicts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2331720"/>
            <a:ext cx="3657600" cy="3611880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53128" y="2514600"/>
            <a:ext cx="3255264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E26B0A"/>
                </a:solidFill>
                <a:latin typeface="Calibri"/>
              </a:rPr>
              <a:t>■  </a:t>
            </a:r>
            <a:r>
              <a:rPr sz="1500">
                <a:solidFill>
                  <a:srgbClr val="1F2937"/>
                </a:solidFill>
                <a:latin typeface="Calibri"/>
              </a:rPr>
              <a:t>Two analysts on the same asset → two different calls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E26B0A"/>
                </a:solidFill>
                <a:latin typeface="Calibri"/>
              </a:rPr>
              <a:t>■  </a:t>
            </a:r>
            <a:r>
              <a:rPr sz="1500">
                <a:solidFill>
                  <a:srgbClr val="1F2937"/>
                </a:solidFill>
                <a:latin typeface="Calibri"/>
              </a:rPr>
              <a:t>Same asset reviewed twice in a week can flip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E26B0A"/>
                </a:solidFill>
                <a:latin typeface="Calibri"/>
              </a:rPr>
              <a:t>■  </a:t>
            </a:r>
            <a:r>
              <a:rPr sz="1500">
                <a:solidFill>
                  <a:srgbClr val="1F2937"/>
                </a:solidFill>
                <a:latin typeface="Calibri"/>
              </a:rPr>
              <a:t>Hard to defend at investor / regulator 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3657600" cy="50292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0" y="182880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Policy drift goes invisible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331720"/>
            <a:ext cx="3657600" cy="3611880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47888" y="2514600"/>
            <a:ext cx="3255264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E26B0A"/>
                </a:solidFill>
                <a:latin typeface="Calibri"/>
              </a:rPr>
              <a:t>■  </a:t>
            </a:r>
            <a:r>
              <a:rPr sz="1500">
                <a:solidFill>
                  <a:srgbClr val="1F2937"/>
                </a:solidFill>
                <a:latin typeface="Calibri"/>
              </a:rPr>
              <a:t>FHA / CWCOT / state / investor rules move quarterly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E26B0A"/>
                </a:solidFill>
                <a:latin typeface="Calibri"/>
              </a:rPr>
              <a:t>■  </a:t>
            </a:r>
            <a:r>
              <a:rPr sz="1500">
                <a:solidFill>
                  <a:srgbClr val="1F2937"/>
                </a:solidFill>
                <a:latin typeface="Calibri"/>
              </a:rPr>
              <a:t>No system check that the analyst is applying today's rule, not last quarter's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E26B0A"/>
                </a:solidFill>
                <a:latin typeface="Calibri"/>
              </a:rPr>
              <a:t>■  </a:t>
            </a:r>
            <a:r>
              <a:rPr sz="1500">
                <a:solidFill>
                  <a:srgbClr val="1F2937"/>
                </a:solidFill>
                <a:latin typeface="Calibri"/>
              </a:rPr>
              <a:t>Stale-policy verdicts only surface at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F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6236208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What's missing is a JUDGMENT LAYER — facts → defensible verdict with conditions, evidence and policy citations.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CTL Agentic AI  ·  Executive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Why Agentic AI — and not more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61288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43584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Rules check whether a field is filled. Agents reason across what's actually in those fields.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486400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What rules can already 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5486400" cy="3520440"/>
          </a:xfrm>
          <a:prstGeom prst="rect">
            <a:avLst/>
          </a:prstGeom>
          <a:solidFill>
            <a:srgbClr val="F8FAFC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5120640" cy="3154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■  </a:t>
            </a:r>
            <a:r>
              <a:rPr sz="1500">
                <a:solidFill>
                  <a:srgbClr val="1F2937"/>
                </a:solidFill>
                <a:latin typeface="Calibri"/>
              </a:rPr>
              <a:t>Check that fields are populated and recent (e.g., BPO &lt; 90 days old)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■  </a:t>
            </a:r>
            <a:r>
              <a:rPr sz="1500">
                <a:solidFill>
                  <a:srgbClr val="1F2937"/>
                </a:solidFill>
                <a:latin typeface="Calibri"/>
              </a:rPr>
              <a:t>Flag that two valuations disagree (BPO vs AVM delta &gt; 10%)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■  </a:t>
            </a:r>
            <a:r>
              <a:rPr sz="1500">
                <a:solidFill>
                  <a:srgbClr val="1F2937"/>
                </a:solidFill>
                <a:latin typeface="Calibri"/>
              </a:rPr>
              <a:t>Route the case to a fixed analyst queue when a rule fires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■  </a:t>
            </a:r>
            <a:r>
              <a:rPr sz="1500">
                <a:solidFill>
                  <a:srgbClr val="1F2937"/>
                </a:solidFill>
                <a:latin typeface="Calibri"/>
              </a:rPr>
              <a:t>Where they stop: cannot read prose, cannot weigh evidence, cannot absorb policy changes without code rewrites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48640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What agentic AI adds on top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331720"/>
            <a:ext cx="5486400" cy="3520440"/>
          </a:xfrm>
          <a:prstGeom prst="rect">
            <a:avLst/>
          </a:prstGeom>
          <a:solidFill>
            <a:srgbClr val="F8FAFC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514600"/>
            <a:ext cx="5120640" cy="3154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■  </a:t>
            </a:r>
            <a:r>
              <a:rPr sz="1500">
                <a:solidFill>
                  <a:srgbClr val="1F2937"/>
                </a:solidFill>
                <a:latin typeface="Calibri"/>
              </a:rPr>
              <a:t>Reads the free-text vendor narratives — title exceptions, inspector notes, attorney status — the way an analyst would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■  </a:t>
            </a:r>
            <a:r>
              <a:rPr sz="1500">
                <a:solidFill>
                  <a:srgbClr val="1F2937"/>
                </a:solidFill>
                <a:latin typeface="Calibri"/>
              </a:rPr>
              <a:t>Decides which valuation to trust and why (comp selection, condition, market signals) — not just that they differ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■  </a:t>
            </a:r>
            <a:r>
              <a:rPr sz="1500">
                <a:solidFill>
                  <a:srgbClr val="1F2937"/>
                </a:solidFill>
                <a:latin typeface="Calibri"/>
              </a:rPr>
              <a:t>Applies today's investor / state / program policy via live document lookup — no code change when policy updates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■  </a:t>
            </a:r>
            <a:r>
              <a:rPr sz="1500">
                <a:solidFill>
                  <a:srgbClr val="1F2937"/>
                </a:solidFill>
                <a:latin typeface="Calibri"/>
              </a:rPr>
              <a:t>Emits a structured verdict with conditions, evidence trail and citations — analyst-ready, audit-ready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989320"/>
            <a:ext cx="11247120" cy="685800"/>
          </a:xfrm>
          <a:prstGeom prst="rect">
            <a:avLst/>
          </a:prstGeom>
          <a:solidFill>
            <a:srgbClr val="F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The split: AI does the judgment. Deterministic code controls the governance.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3679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Confidence thresholds, policy enforcement, and human-review escalation live in code — not in the model's hands.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CTL Agentic AI  ·  Executive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Where the value comes from — six levers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61288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07592"/>
            <a:ext cx="112471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4B5563"/>
                </a:solidFill>
                <a:latin typeface="Calibri"/>
              </a:rPr>
              <a:t>Each lever is a specific place CTL saves money or time. 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703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91440" cy="201168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26B0A"/>
                </a:solidFill>
                <a:latin typeface="Calibri"/>
              </a:rPr>
              <a:t>Faster time-to-list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14600"/>
            <a:ext cx="33375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Routine assets clear in minutes — not days waiting in the analyst queue.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383280"/>
            <a:ext cx="3246120" cy="320040"/>
          </a:xfrm>
          <a:prstGeom prst="rect">
            <a:avLst/>
          </a:prstGeom>
          <a:solidFill>
            <a:srgbClr val="F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38328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E26B0A"/>
                </a:solidFill>
                <a:latin typeface="Calibri"/>
              </a:rPr>
              <a:t>Revenue · 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828800"/>
            <a:ext cx="3703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1828800"/>
            <a:ext cx="91440" cy="201168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196596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26B0A"/>
                </a:solidFill>
                <a:latin typeface="Calibri"/>
              </a:rPr>
              <a:t>Lower carrying cost per asset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514600"/>
            <a:ext cx="33375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Each day off the CTL clock saves taxes, insurance, HOA, preservation and cost-of-capital.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3383280"/>
            <a:ext cx="3246120" cy="320040"/>
          </a:xfrm>
          <a:prstGeom prst="rect">
            <a:avLst/>
          </a:prstGeom>
          <a:solidFill>
            <a:srgbClr val="F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6280" y="338328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E26B0A"/>
                </a:solidFill>
                <a:latin typeface="Calibri"/>
              </a:rPr>
              <a:t>Finance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828800"/>
            <a:ext cx="3703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38160" y="1828800"/>
            <a:ext cx="91440" cy="201168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196596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26B0A"/>
                </a:solidFill>
                <a:latin typeface="Calibri"/>
              </a:rPr>
              <a:t>Analyst capacity reclaimed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514600"/>
            <a:ext cx="33375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Senior analysts move off routine throughput and onto ambiguous, high-value cases.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3383280"/>
            <a:ext cx="3246120" cy="320040"/>
          </a:xfrm>
          <a:prstGeom prst="rect">
            <a:avLst/>
          </a:prstGeom>
          <a:solidFill>
            <a:srgbClr val="F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338328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E26B0A"/>
                </a:solidFill>
                <a:latin typeface="Calibri"/>
              </a:rPr>
              <a:t>Ops · HR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05072"/>
            <a:ext cx="3703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005072"/>
            <a:ext cx="91440" cy="201168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4142232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26B0A"/>
                </a:solidFill>
                <a:latin typeface="Calibri"/>
              </a:rPr>
              <a:t>Consistent, defensible verdicts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690872"/>
            <a:ext cx="33375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Same asset → same verdict. Every call is policy-cited and replayable for audit.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559552"/>
            <a:ext cx="3246120" cy="320040"/>
          </a:xfrm>
          <a:prstGeom prst="rect">
            <a:avLst/>
          </a:prstGeom>
          <a:solidFill>
            <a:srgbClr val="F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5559552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E26B0A"/>
                </a:solidFill>
                <a:latin typeface="Calibri"/>
              </a:rPr>
              <a:t>Risk · Compliance · Legal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4005072"/>
            <a:ext cx="3703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97680" y="4005072"/>
            <a:ext cx="91440" cy="201168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26280" y="4142232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26B0A"/>
                </a:solidFill>
                <a:latin typeface="Calibri"/>
              </a:rPr>
              <a:t>Scales with compute, not headcount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4690872"/>
            <a:ext cx="33375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Foreclosure-cycle spikes and portfolio acquisitions absorbed without a hiring round.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26280" y="5559552"/>
            <a:ext cx="3246120" cy="320040"/>
          </a:xfrm>
          <a:prstGeom prst="rect">
            <a:avLst/>
          </a:prstGeom>
          <a:solidFill>
            <a:srgbClr val="F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26280" y="5559552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E26B0A"/>
                </a:solidFill>
                <a:latin typeface="Calibri"/>
              </a:rPr>
              <a:t>CFO · COO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4005072"/>
            <a:ext cx="3703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138160" y="4005072"/>
            <a:ext cx="91440" cy="201168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66760" y="4142232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26B0A"/>
                </a:solidFill>
                <a:latin typeface="Calibri"/>
              </a:rPr>
              <a:t>Policy agility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690872"/>
            <a:ext cx="33375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Quarterly investor / state / program rule changes = update a document, not retrain analysts.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66760" y="5559552"/>
            <a:ext cx="3246120" cy="320040"/>
          </a:xfrm>
          <a:prstGeom prst="rect">
            <a:avLst/>
          </a:prstGeom>
          <a:solidFill>
            <a:srgbClr val="F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66760" y="5559552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E26B0A"/>
                </a:solidFill>
                <a:latin typeface="Calibri"/>
              </a:rPr>
              <a:t>Compliance · 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CTL Agentic AI  ·  Executive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How a verdict is produced — six steps, every asset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61288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43584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Plan → Investigate (parallel) → Reflect → Apply Policy → Quality Gate → Human Review (only if needed)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286000" cy="676656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1828800"/>
            <a:ext cx="21031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1. 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828800"/>
            <a:ext cx="8961120" cy="676656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0" y="1828800"/>
            <a:ext cx="86410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Read asset; consult current policy; decide which checks apply for THIS asset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78608"/>
            <a:ext cx="2286000" cy="676656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2578608"/>
            <a:ext cx="21031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2. Investigate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578608"/>
            <a:ext cx="8961120" cy="676656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2578608"/>
            <a:ext cx="86410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Three specialists in parallel — Legal · Valuation · Occupancy — each with scoped data sources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28416"/>
            <a:ext cx="2286000" cy="676656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3328416"/>
            <a:ext cx="21031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3. Reflect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328416"/>
            <a:ext cx="8961120" cy="676656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80" y="3328416"/>
            <a:ext cx="86410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Synthesize specialist findings → structured verdict with conditions, evidence and citations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78224"/>
            <a:ext cx="2286000" cy="676656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4078224"/>
            <a:ext cx="21031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4. Apply Policy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78224"/>
            <a:ext cx="8961120" cy="676656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80" y="4078224"/>
            <a:ext cx="86410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Confidence snapped to discrete buckets; low confidence forced to human review (code, not the LLM)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28032"/>
            <a:ext cx="2286000" cy="676656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4828032"/>
            <a:ext cx="21031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5. Quality Gate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4828032"/>
            <a:ext cx="8961120" cy="676656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26080" y="4828032"/>
            <a:ext cx="86410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Independent AI judge scores groundedness vs evidence (1–5). Below threshold → blocked → HITL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577840"/>
            <a:ext cx="2286000" cy="676656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5577840"/>
            <a:ext cx="21031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6. Human 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5577840"/>
            <a:ext cx="8961120" cy="676656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26080" y="5577840"/>
            <a:ext cx="86410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Ambiguous cases reach an analyst with the full evidence package already assembled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CTL Agentic AI  ·  Executive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Solution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61288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43584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Four layers — agent workflow, governed tools (MCP), grounded policy (RAG), Azure infrastructure.  Orange-filled blocks use an AI model; outlined blocks are deterministic.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627632"/>
            <a:ext cx="11430000" cy="5029200"/>
          </a:xfrm>
          <a:prstGeom prst="rect">
            <a:avLst/>
          </a:prstGeom>
          <a:solidFill>
            <a:srgbClr val="FFFFFF"/>
          </a:solidFill>
          <a:ln w="2857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11247120" cy="27432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WORKFLOW ORCHESTRATOR  ·  6-phase decision flow with per-phase timeouts and parallel investigation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121408"/>
            <a:ext cx="1920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0" y="212140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Calibri"/>
              </a:rPr>
              <a:t>Asset Profile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54880" y="2267712"/>
            <a:ext cx="274320" cy="164592"/>
          </a:xfrm>
          <a:prstGeom prst="rightArrow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20640" y="2121408"/>
            <a:ext cx="1920240" cy="457200"/>
          </a:xfrm>
          <a:prstGeom prst="rect">
            <a:avLst/>
          </a:prstGeom>
          <a:solidFill>
            <a:srgbClr val="E26B0A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212140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Planner Agent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32320" y="2267712"/>
            <a:ext cx="274320" cy="164592"/>
          </a:xfrm>
          <a:prstGeom prst="rightArrow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80" y="2121408"/>
            <a:ext cx="1920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0" y="212140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Calibri"/>
              </a:rPr>
              <a:t>Investigation</a:t>
            </a:r>
          </a:p>
          <a:p>
            <a:pPr algn="ctr"/>
            <a:r>
              <a:rPr sz="1200" b="1">
                <a:solidFill>
                  <a:srgbClr val="1F2937"/>
                </a:solidFill>
                <a:latin typeface="Calibri"/>
              </a:rPr>
              <a:t>(fan-out)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670048"/>
            <a:ext cx="2011680" cy="457200"/>
          </a:xfrm>
          <a:prstGeom prst="rect">
            <a:avLst/>
          </a:prstGeom>
          <a:solidFill>
            <a:srgbClr val="E26B0A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88920" y="267004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Legal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2670048"/>
            <a:ext cx="2011680" cy="457200"/>
          </a:xfrm>
          <a:prstGeom prst="rect">
            <a:avLst/>
          </a:prstGeom>
          <a:solidFill>
            <a:srgbClr val="E26B0A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74920" y="267004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Valuation 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2670048"/>
            <a:ext cx="2011680" cy="457200"/>
          </a:xfrm>
          <a:prstGeom prst="rect">
            <a:avLst/>
          </a:prstGeom>
          <a:solidFill>
            <a:srgbClr val="E26B0A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0920" y="267004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Occupancy 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98" y="3218688"/>
            <a:ext cx="1874519" cy="457200"/>
          </a:xfrm>
          <a:prstGeom prst="rect">
            <a:avLst/>
          </a:prstGeom>
          <a:solidFill>
            <a:srgbClr val="E26B0A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2398" y="3218688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Reflection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793493" y="3364992"/>
            <a:ext cx="182880" cy="164592"/>
          </a:xfrm>
          <a:prstGeom prst="rightArrow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012949" y="3218688"/>
            <a:ext cx="187451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12949" y="3218688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Calibri"/>
              </a:rPr>
              <a:t>Policy Enforcer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924044" y="3364992"/>
            <a:ext cx="182880" cy="164592"/>
          </a:xfrm>
          <a:prstGeom prst="rightArrow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143500" y="3218688"/>
            <a:ext cx="1874519" cy="457200"/>
          </a:xfrm>
          <a:prstGeom prst="rect">
            <a:avLst/>
          </a:prstGeom>
          <a:solidFill>
            <a:srgbClr val="E26B0A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143500" y="3218688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Quality Gate (Judge)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054595" y="3364992"/>
            <a:ext cx="182880" cy="164592"/>
          </a:xfrm>
          <a:prstGeom prst="rightArrow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274051" y="3218688"/>
            <a:ext cx="187451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74051" y="3218688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Calibri"/>
              </a:rPr>
              <a:t>Human Review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185146" y="3364992"/>
            <a:ext cx="182880" cy="164592"/>
          </a:xfrm>
          <a:prstGeom prst="rightArrow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404602" y="3218688"/>
            <a:ext cx="187451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04602" y="3218688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Calibri"/>
              </a:rPr>
              <a:t>Verdict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877056"/>
            <a:ext cx="11247120" cy="27432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3877056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MCP TOOL SERVER  ·  single governed entrypoint for every external lookup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376" y="4261104"/>
            <a:ext cx="2011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22376" y="4261104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Calibri"/>
              </a:rPr>
              <a:t>Title / HOA / Code Violation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98648" y="4261104"/>
            <a:ext cx="2011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898648" y="4261104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Calibri"/>
              </a:rPr>
              <a:t>Occupancy Verification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74920" y="4261104"/>
            <a:ext cx="2011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4920" y="4261104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Calibri"/>
              </a:rPr>
              <a:t>AVM / BPO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51192" y="4261104"/>
            <a:ext cx="2011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51192" y="4261104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Calibri"/>
              </a:rPr>
              <a:t>Asset Profiler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27464" y="4261104"/>
            <a:ext cx="2011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427464" y="4261104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Calibri"/>
              </a:rPr>
              <a:t>Knowledge Base Query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846320"/>
            <a:ext cx="11247120" cy="27432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48463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RAG  ·  policy is content, not code — adding/updating policy never touches orchestration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0100" y="5230368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00100" y="5230368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Calibri"/>
              </a:rPr>
              <a:t>Policy Knowledge 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97580" y="5230368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497580" y="5230368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Calibri"/>
              </a:rPr>
              <a:t>Indexing Pipeline (chunker)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95060" y="5230368"/>
            <a:ext cx="2468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95060" y="5230368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Calibri"/>
              </a:rPr>
              <a:t>Hybrid Retriever (BM25 + vector)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92540" y="5230368"/>
            <a:ext cx="2468880" cy="384048"/>
          </a:xfrm>
          <a:prstGeom prst="rect">
            <a:avLst/>
          </a:prstGeom>
          <a:solidFill>
            <a:srgbClr val="E26B0A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892540" y="5230368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Embedding Generator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815584"/>
            <a:ext cx="11247120" cy="27432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4360" y="581558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AZURE INFRASTRUCTURE  ·  two LLM deployments (Worker + independent Judge), safety, identity, search, observability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7824" y="6199632"/>
            <a:ext cx="1627632" cy="420624"/>
          </a:xfrm>
          <a:prstGeom prst="rect">
            <a:avLst/>
          </a:prstGeom>
          <a:solidFill>
            <a:srgbClr val="E26B0A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77824" y="6199632"/>
            <a:ext cx="162763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AI Foundry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(Worker LLM)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633472" y="6199632"/>
            <a:ext cx="1627632" cy="420624"/>
          </a:xfrm>
          <a:prstGeom prst="rect">
            <a:avLst/>
          </a:prstGeom>
          <a:solidFill>
            <a:srgbClr val="E26B0A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633472" y="6199632"/>
            <a:ext cx="162763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AI Foundry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(Judge LLM)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89120" y="6199632"/>
            <a:ext cx="1627632" cy="420624"/>
          </a:xfrm>
          <a:prstGeom prst="rect">
            <a:avLst/>
          </a:prstGeom>
          <a:solidFill>
            <a:srgbClr val="E26B0A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389120" y="6199632"/>
            <a:ext cx="162763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AI Content Safety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44768" y="6199632"/>
            <a:ext cx="16276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144768" y="6199632"/>
            <a:ext cx="162763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AI Search</a:t>
            </a:r>
          </a:p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(Vector Index)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900416" y="6199632"/>
            <a:ext cx="16276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900416" y="6199632"/>
            <a:ext cx="162763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Entra ID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56064" y="6199632"/>
            <a:ext cx="16276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656064" y="6199632"/>
            <a:ext cx="162763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App Insights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1737360"/>
            <a:ext cx="11247120" cy="2048256"/>
          </a:xfrm>
          <a:prstGeom prst="rect">
            <a:avLst/>
          </a:prstGeom>
          <a:noFill/>
          <a:ln w="1587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457200" y="3877056"/>
            <a:ext cx="11247120" cy="877824"/>
          </a:xfrm>
          <a:prstGeom prst="rect">
            <a:avLst/>
          </a:prstGeom>
          <a:noFill/>
          <a:ln w="1587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457200" y="4846320"/>
            <a:ext cx="11247120" cy="877824"/>
          </a:xfrm>
          <a:prstGeom prst="rect">
            <a:avLst/>
          </a:prstGeom>
          <a:noFill/>
          <a:ln w="1587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457200" y="5815584"/>
            <a:ext cx="11247120" cy="914400"/>
          </a:xfrm>
          <a:prstGeom prst="rect">
            <a:avLst/>
          </a:prstGeom>
          <a:noFill/>
          <a:ln w="15875">
            <a:solidFill>
              <a:srgbClr val="E2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CTL Agentic AI  ·  Executive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Building blocks — one responsibility 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61288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43584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Replaceable, testable, governable. Adding a vendor or refreshing a policy never touches orchestration.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124711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Workflow Orchestrator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828800"/>
            <a:ext cx="777239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Drives 6-phase flow; per-phase timeouts; parallel investigation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12848"/>
            <a:ext cx="11247119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21284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Planner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212848"/>
            <a:ext cx="777239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Reads asset + RAG; decides which checks apply for THIS asset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96896"/>
            <a:ext cx="1124711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596896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Specialist Agents (3)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596896"/>
            <a:ext cx="777239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Legal · Valuation · Occupancy — parallel, scoped tools, one domain verdict each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80944"/>
            <a:ext cx="11247119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980944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Reflection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2980944"/>
            <a:ext cx="777239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Joins findings; re-grounds against policy; emits asset-level verdict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64992"/>
            <a:ext cx="1124711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3364992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Policy Enforcer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3364992"/>
            <a:ext cx="777239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Deterministic — schema-validate, snap confidence, force HITL when low (code, not LLM)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49040"/>
            <a:ext cx="11247119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74904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Quality Gate (Judge)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3749040"/>
            <a:ext cx="777239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Independent LLM scores groundedness vs evidence; below bar → HITL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33088"/>
            <a:ext cx="1124711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413308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Human-In-The-Loop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4133088"/>
            <a:ext cx="777239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Routes flagged cases to analyst with full evidence package; override is captured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17136"/>
            <a:ext cx="11247119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4517136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MCP Tool Server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4517136"/>
            <a:ext cx="777239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Single governed entrypoint for every external data lookup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01184"/>
            <a:ext cx="1124711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4901184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RAG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4901184"/>
            <a:ext cx="777239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Policy KB · chunking · hybrid retrieval (BM25 + vector) · embeddings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285232"/>
            <a:ext cx="11247119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" y="5285232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Guardrails Middleware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0" y="5285232"/>
            <a:ext cx="777239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Token budget · prompt-injection screening · PII masking on input AND output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669280"/>
            <a:ext cx="1124711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" y="566928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Resilience Pipelines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5669280"/>
            <a:ext cx="777239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Polly retries, exponential backoff, per-phase timeouts, circuit-breakers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053328"/>
            <a:ext cx="11247119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4360" y="605332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Audit Sink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6053328"/>
            <a:ext cx="777239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One session id ties every step into one replayable record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CTL Agentic AI  ·  Executive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Tech stack — proven, portable, governed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61288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43584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Microsoft-stack first. AI capabilities at the top; platform plumbing below.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124711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LLM provider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828800"/>
            <a:ext cx="777239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Azure AI Foundry — separate Worker + Judge model deployments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12848"/>
            <a:ext cx="11247119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21284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Agent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212848"/>
            <a:ext cx="777239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Microsoft Agent Framework — provider-portable agents, tools, and workflows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96896"/>
            <a:ext cx="1124711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596896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Tools transport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596896"/>
            <a:ext cx="777239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Model Context Protocol (MCP) over HTTPS, API-key auth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80944"/>
            <a:ext cx="11247119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980944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Retrieval (RAG)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2980944"/>
            <a:ext cx="777239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Azure AI Search — hybrid BM25 + vector (text-embedding-3-small)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64992"/>
            <a:ext cx="1124711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3364992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3364992"/>
            <a:ext cx="777239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Azure AI Content Safety + Prompt Shields + Azure Text Analytics PII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49040"/>
            <a:ext cx="11247119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74904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3749040"/>
            <a:ext cx="777239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Microsoft.Extensions.AI.Evaluation — Groundedness, Relevance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33088"/>
            <a:ext cx="1124711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413308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Human-review channel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4133088"/>
            <a:ext cx="777239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Bot Framework — Web Chat &amp; Teams today; channel-portable (Slack, SMS, others)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17136"/>
            <a:ext cx="11247119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4517136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Resilience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4517136"/>
            <a:ext cx="777239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Polly v8 — retry with exponential backoff, timeout, circuit-breaker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01184"/>
            <a:ext cx="1124711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4901184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Observability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4901184"/>
            <a:ext cx="777239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OpenTelemetry → Application Insights + per-session JSONL audit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285232"/>
            <a:ext cx="11247119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" y="5285232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Identity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0" y="5285232"/>
            <a:ext cx="777239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Entra ID · DefaultAzureCredential / Managed Identity in production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669280"/>
            <a:ext cx="1124711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" y="566928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Runtime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5669280"/>
            <a:ext cx="777239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.NET 9, C#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053328"/>
            <a:ext cx="11247119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4360" y="605332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26B0A"/>
                </a:solidFill>
                <a:latin typeface="Calibri"/>
              </a:rPr>
              <a:t>Tests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6053328"/>
            <a:ext cx="777239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xUnit + NSubstitute · offline regression eval harness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CTL Agentic AI  ·  Executive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Prototype today  vs  Phase 2  —  what hardens, and in what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61288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43584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Each gap is a finite engineering item. Vendor + policy + Cascade write-back is the critical path.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86868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Order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1828800"/>
            <a:ext cx="2468880" cy="45720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18288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Area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828800"/>
            <a:ext cx="3657600" cy="45720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31920" y="182880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Today (prototype)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1828800"/>
            <a:ext cx="4251960" cy="457200"/>
          </a:xfrm>
          <a:prstGeom prst="rect">
            <a:avLst/>
          </a:prstGeom>
          <a:solidFill>
            <a:srgbClr val="E26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0" y="182880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Phase 2 (enterprise grade)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11247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" y="2350008"/>
            <a:ext cx="548640" cy="2926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235000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2286000"/>
            <a:ext cx="21945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26B0A"/>
                </a:solidFill>
                <a:latin typeface="Calibri"/>
              </a:rPr>
              <a:t>Tool integrations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286000"/>
            <a:ext cx="33832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MCP tools with representative mocks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286000"/>
            <a:ext cx="39776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Real Title, AVM/BPO, Occupancy, HOA, Code vendors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706624"/>
            <a:ext cx="1124712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" y="2770632"/>
            <a:ext cx="548640" cy="2926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" y="2770632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2706624"/>
            <a:ext cx="21945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26B0A"/>
                </a:solidFill>
                <a:latin typeface="Calibri"/>
              </a:rPr>
              <a:t>Domain knowledge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2706624"/>
            <a:ext cx="33832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Sample policy docs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706624"/>
            <a:ext cx="39776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Governed real corpus — named owners, versioning, re-index on change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127248"/>
            <a:ext cx="11247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" y="3191256"/>
            <a:ext cx="548640" cy="2926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" y="3191256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3127248"/>
            <a:ext cx="21945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26B0A"/>
                </a:solidFill>
                <a:latin typeface="Calibri"/>
              </a:rPr>
              <a:t>Cascade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3127248"/>
            <a:ext cx="33832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Verdict produced as record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127248"/>
            <a:ext cx="39776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Camunda trigger → write-back into TaskService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547872"/>
            <a:ext cx="1124712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1792" y="3611880"/>
            <a:ext cx="548640" cy="2926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" y="361188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3547872"/>
            <a:ext cx="21945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26B0A"/>
                </a:solidFill>
                <a:latin typeface="Calibri"/>
              </a:rPr>
              <a:t>Volume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3547872"/>
            <a:ext cx="33832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Single-asset API runs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3547872"/>
            <a:ext cx="39776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Horizontal scale behind a queue; SLOs on production-shape traffic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968496"/>
            <a:ext cx="11247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1792" y="4032504"/>
            <a:ext cx="548640" cy="2926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792" y="4032504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3968496"/>
            <a:ext cx="21945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26B0A"/>
                </a:solidFill>
                <a:latin typeface="Calibri"/>
              </a:rPr>
              <a:t>Quality measurement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1920" y="3968496"/>
            <a:ext cx="33832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Offline regression + runtime judge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3968496"/>
            <a:ext cx="39776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+ red-team evals, deploy gates, drift monitoring, cost &amp; latency SLOs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389120"/>
            <a:ext cx="1124712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21792" y="4453128"/>
            <a:ext cx="548640" cy="2926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1792" y="445312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4389120"/>
            <a:ext cx="21945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26B0A"/>
                </a:solidFill>
                <a:latin typeface="Calibri"/>
              </a:rPr>
              <a:t>Region posture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31920" y="4389120"/>
            <a:ext cx="33832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Single region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4389120"/>
            <a:ext cx="39776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Active-passive multi-region with rehearsed failover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809744"/>
            <a:ext cx="11247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21792" y="4873752"/>
            <a:ext cx="548640" cy="2926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1792" y="4873752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63040" y="4809744"/>
            <a:ext cx="21945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26B0A"/>
                </a:solidFill>
                <a:latin typeface="Calibri"/>
              </a:rPr>
              <a:t>LLM provider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0" y="4809744"/>
            <a:ext cx="33832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Azure OpenAI worker + judge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89520" y="4809744"/>
            <a:ext cx="39776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Validated against ≥1 alternative — A/B for cost vs quality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5230368"/>
            <a:ext cx="11247120" cy="420624"/>
          </a:xfrm>
          <a:prstGeom prst="rect">
            <a:avLst/>
          </a:prstGeom>
          <a:solidFill>
            <a:srgbClr val="F8FAFC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21792" y="5294376"/>
            <a:ext cx="548640" cy="2926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1792" y="5294376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63040" y="5230368"/>
            <a:ext cx="21945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26B0A"/>
                </a:solidFill>
                <a:latin typeface="Calibri"/>
              </a:rPr>
              <a:t>Compliance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31920" y="5230368"/>
            <a:ext cx="33832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Per-decision JSONL + App Insights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9520" y="5230368"/>
            <a:ext cx="39776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SOC-2 pack, retention / WORM, residency, model registry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5650992"/>
            <a:ext cx="11247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FFE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21792" y="5715000"/>
            <a:ext cx="548640" cy="2926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1792" y="57150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63040" y="5650992"/>
            <a:ext cx="21945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26B0A"/>
                </a:solidFill>
                <a:latin typeface="Calibri"/>
              </a:rPr>
              <a:t>Operations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31920" y="5650992"/>
            <a:ext cx="33832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Developer-run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89520" y="5650992"/>
            <a:ext cx="39776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Runbooks, on-call, alerting, model upgrade &amp; rollback procedures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6208776"/>
            <a:ext cx="11247120" cy="502920"/>
          </a:xfrm>
          <a:prstGeom prst="rect">
            <a:avLst/>
          </a:prstGeom>
          <a:solidFill>
            <a:srgbClr val="F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0080" y="6208776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26B0A"/>
                </a:solidFill>
                <a:latin typeface="Calibri"/>
              </a:rPr>
              <a:t>Critical path = real vendors + real policy → Cascade write-back → volume benchmark. Everything else hardens that benchmark.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1617</Words>
  <Application>Microsoft Office PowerPoint</Application>
  <PresentationFormat>Widescreen</PresentationFormat>
  <Paragraphs>233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Thirugnanaprakash Anbalagan</cp:lastModifiedBy>
  <cp:revision>2</cp:revision>
  <dcterms:created xsi:type="dcterms:W3CDTF">2013-01-27T09:14:16Z</dcterms:created>
  <dcterms:modified xsi:type="dcterms:W3CDTF">2026-05-13T03:56:44Z</dcterms:modified>
  <cp:category/>
</cp:coreProperties>
</file>